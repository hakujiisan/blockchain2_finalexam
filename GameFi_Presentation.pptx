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D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7AF-884E-B379-B8AF5B6499C7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AF-884E-B379-B8AF5B6499C7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AF-884E-B379-B8AF5B6499C7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7AF-884E-B379-B8AF5B6499C7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7AF-884E-B379-B8AF5B6499C7}"/>
              </c:ext>
            </c:extLst>
          </c:dPt>
          <c:dPt>
            <c:idx val="5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7AF-884E-B379-B8AF5B6499C7}"/>
              </c:ext>
            </c:extLst>
          </c:dPt>
          <c:dPt>
            <c:idx val="6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7AF-884E-B379-B8AF5B6499C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GameItems</c:v>
                </c:pt>
                <c:pt idx="1">
                  <c:v>Governor</c:v>
                </c:pt>
                <c:pt idx="2">
                  <c:v>UpgradeFactory</c:v>
                </c:pt>
                <c:pt idx="3">
                  <c:v>ResourceAMM</c:v>
                </c:pt>
                <c:pt idx="4">
                  <c:v>ItemVault</c:v>
                </c:pt>
                <c:pt idx="5">
                  <c:v>Fork</c:v>
                </c:pt>
                <c:pt idx="6">
                  <c:v>Fuzz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</c:v>
                </c:pt>
                <c:pt idx="1">
                  <c:v>21</c:v>
                </c:pt>
                <c:pt idx="2">
                  <c:v>15</c:v>
                </c:pt>
                <c:pt idx="3">
                  <c:v>9</c:v>
                </c:pt>
                <c:pt idx="4">
                  <c:v>9</c:v>
                </c:pt>
                <c:pt idx="5">
                  <c:v>11</c:v>
                </c:pt>
                <c:pt idx="6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7AF-884E-B379-B8AF5B6499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5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4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864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12700">
            <a:solidFill>
              <a:srgbClr val="0A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12700">
            <a:solidFill>
              <a:srgbClr val="0A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12700">
            <a:solidFill>
              <a:srgbClr val="0A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12700">
            <a:solidFill>
              <a:srgbClr val="0A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12700">
            <a:solidFill>
              <a:srgbClr val="0A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12700">
            <a:solidFill>
              <a:srgbClr val="0A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12700">
            <a:solidFill>
              <a:srgbClr val="0A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12700">
            <a:solidFill>
              <a:srgbClr val="0A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12700">
            <a:solidFill>
              <a:srgbClr val="0A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1" name="Shape 9"/>
          <p:cNvSpPr/>
          <p:nvPr/>
        </p:nvSpPr>
        <p:spPr>
          <a:xfrm>
            <a:off x="3200400" y="1348740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Shape 10"/>
          <p:cNvSpPr/>
          <p:nvPr/>
        </p:nvSpPr>
        <p:spPr>
          <a:xfrm>
            <a:off x="3657600" y="2901260"/>
            <a:ext cx="18288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Text 11"/>
          <p:cNvSpPr/>
          <p:nvPr/>
        </p:nvSpPr>
        <p:spPr>
          <a:xfrm>
            <a:off x="457200" y="146227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GAMEFI ECONOMY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57200" y="21259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kern="0" spc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7828" y="303167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Technologies 2  ·  Final Project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4640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Zhandaulet Ermekov  ·  Alan Kissamenov  ·  Shakarim Ainatayev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4206240"/>
            <a:ext cx="2194560" cy="502920"/>
          </a:xfrm>
          <a:prstGeom prst="rect">
            <a:avLst/>
          </a:prstGeom>
          <a:solidFill>
            <a:srgbClr val="0A1428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8" name="Text 16"/>
          <p:cNvSpPr/>
          <p:nvPr/>
        </p:nvSpPr>
        <p:spPr>
          <a:xfrm>
            <a:off x="3474720" y="4233672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ARBITRUM SEPOLIA</a:t>
            </a:r>
            <a:endParaRPr lang="en-US" sz="1100" dirty="0"/>
          </a:p>
        </p:txBody>
      </p:sp>
      <p:sp>
        <p:nvSpPr>
          <p:cNvPr id="19" name="AutoShape 2">
            <a:extLst>
              <a:ext uri="{FF2B5EF4-FFF2-40B4-BE49-F238E27FC236}">
                <a16:creationId xmlns:a16="http://schemas.microsoft.com/office/drawing/2014/main" id="{56A5F87C-3AB6-2765-BD62-2FF95E66C0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657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on-chain GameFi ecosystem where players collect and trade ERC-1155 game items, craft legendary equipment by burning resources, and earn yield through tokenized vaults.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game parameters - drop rates, crafting costs, treasury spending - are governed by a DAO using ERC-20Votes tokens and an OpenZeppelin Governor stack.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2011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03720" y="1508760"/>
            <a:ext cx="2011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Text 10"/>
          <p:cNvSpPr/>
          <p:nvPr/>
        </p:nvSpPr>
        <p:spPr>
          <a:xfrm>
            <a:off x="6995160" y="1600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99516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697480"/>
            <a:ext cx="2011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5" name="Text 13"/>
          <p:cNvSpPr/>
          <p:nvPr/>
        </p:nvSpPr>
        <p:spPr>
          <a:xfrm>
            <a:off x="4846320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+ Verified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2697480"/>
            <a:ext cx="2011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8" name="Text 16"/>
          <p:cNvSpPr/>
          <p:nvPr/>
        </p:nvSpPr>
        <p:spPr>
          <a:xfrm>
            <a:off x="6995160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9516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57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5720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GameToken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ERC-20Votes + Permit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2057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4572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0" name="Text 8"/>
          <p:cNvSpPr/>
          <p:nvPr/>
        </p:nvSpPr>
        <p:spPr>
          <a:xfrm>
            <a:off x="256032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GameItems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ERC-1155 + Crafting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960120"/>
            <a:ext cx="2057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Shape 11"/>
          <p:cNvSpPr/>
          <p:nvPr/>
        </p:nvSpPr>
        <p:spPr>
          <a:xfrm>
            <a:off x="4526280" y="960120"/>
            <a:ext cx="4572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4" name="Text 12"/>
          <p:cNvSpPr/>
          <p:nvPr/>
        </p:nvSpPr>
        <p:spPr>
          <a:xfrm>
            <a:off x="466344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ResourceAMM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x·y=k, 0.3% fee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29400" y="960120"/>
            <a:ext cx="2057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7" name="Shape 15"/>
          <p:cNvSpPr/>
          <p:nvPr/>
        </p:nvSpPr>
        <p:spPr>
          <a:xfrm>
            <a:off x="6629400" y="960120"/>
            <a:ext cx="4572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8" name="Text 16"/>
          <p:cNvSpPr/>
          <p:nvPr/>
        </p:nvSpPr>
        <p:spPr>
          <a:xfrm>
            <a:off x="676656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ItemVault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ERC-4626 + harvest()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331720"/>
            <a:ext cx="2057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1" name="Shape 19"/>
          <p:cNvSpPr/>
          <p:nvPr/>
        </p:nvSpPr>
        <p:spPr>
          <a:xfrm>
            <a:off x="274320" y="2331720"/>
            <a:ext cx="45720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2" name="Text 20"/>
          <p:cNvSpPr/>
          <p:nvPr/>
        </p:nvSpPr>
        <p:spPr>
          <a:xfrm>
            <a:off x="41148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MyGovernor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quorum, 1-week vote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23160" y="2331720"/>
            <a:ext cx="2057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5" name="Shape 23"/>
          <p:cNvSpPr/>
          <p:nvPr/>
        </p:nvSpPr>
        <p:spPr>
          <a:xfrm>
            <a:off x="2423160" y="2331720"/>
            <a:ext cx="45720" cy="1097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6" name="Text 24"/>
          <p:cNvSpPr/>
          <p:nvPr/>
        </p:nvSpPr>
        <p:spPr>
          <a:xfrm>
            <a:off x="256032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MyTimelock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6032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execution delay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26280" y="2331720"/>
            <a:ext cx="2057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9" name="Shape 27"/>
          <p:cNvSpPr/>
          <p:nvPr/>
        </p:nvSpPr>
        <p:spPr>
          <a:xfrm>
            <a:off x="4526280" y="2331720"/>
            <a:ext cx="4572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0" name="Text 28"/>
          <p:cNvSpPr/>
          <p:nvPr/>
        </p:nvSpPr>
        <p:spPr>
          <a:xfrm>
            <a:off x="466344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GameItemsV1→V2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344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UUPS Proxy Upgrade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2331720"/>
            <a:ext cx="2057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3" name="Shape 31"/>
          <p:cNvSpPr/>
          <p:nvPr/>
        </p:nvSpPr>
        <p:spPr>
          <a:xfrm>
            <a:off x="6629400" y="2331720"/>
            <a:ext cx="4572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4" name="Text 32"/>
          <p:cNvSpPr/>
          <p:nvPr/>
        </p:nvSpPr>
        <p:spPr>
          <a:xfrm>
            <a:off x="6766560" y="2468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GameFactory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6656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CREATE2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703320"/>
            <a:ext cx="2057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7" name="Shape 35"/>
          <p:cNvSpPr/>
          <p:nvPr/>
        </p:nvSpPr>
        <p:spPr>
          <a:xfrm>
            <a:off x="274320" y="3703320"/>
            <a:ext cx="4572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8" name="Text 36"/>
          <p:cNvSpPr/>
          <p:nvPr/>
        </p:nvSpPr>
        <p:spPr>
          <a:xfrm>
            <a:off x="41148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LootBox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148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item drops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423160" y="3703320"/>
            <a:ext cx="2057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1" name="Shape 39"/>
          <p:cNvSpPr/>
          <p:nvPr/>
        </p:nvSpPr>
        <p:spPr>
          <a:xfrm>
            <a:off x="2423160" y="3703320"/>
            <a:ext cx="45720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2" name="Text 40"/>
          <p:cNvSpPr/>
          <p:nvPr/>
        </p:nvSpPr>
        <p:spPr>
          <a:xfrm>
            <a:off x="256032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MockAggregator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56032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oracle mock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26280" y="3703320"/>
            <a:ext cx="2057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5" name="Shape 43"/>
          <p:cNvSpPr/>
          <p:nvPr/>
        </p:nvSpPr>
        <p:spPr>
          <a:xfrm>
            <a:off x="4526280" y="3703320"/>
            <a:ext cx="4572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6" name="Text 44"/>
          <p:cNvSpPr/>
          <p:nvPr/>
        </p:nvSpPr>
        <p:spPr>
          <a:xfrm>
            <a:off x="466344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YulMath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66344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Yul assembly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29400" y="3703320"/>
            <a:ext cx="2057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9" name="Shape 47"/>
          <p:cNvSpPr/>
          <p:nvPr/>
        </p:nvSpPr>
        <p:spPr>
          <a:xfrm>
            <a:off x="6629400" y="3703320"/>
            <a:ext cx="4572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0" name="Text 48"/>
          <p:cNvSpPr/>
          <p:nvPr/>
        </p:nvSpPr>
        <p:spPr>
          <a:xfrm>
            <a:off x="676656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76656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indexing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Standards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ERC-20Votes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GameToken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194560" cy="0"/>
          </a:xfrm>
          <a:prstGeom prst="line">
            <a:avLst/>
          </a:prstGeom>
          <a:noFill/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ERC-20Permit for gasless approvals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 GAME total supply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Snapshot-based voting power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flash loan governance attacks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flash loan governance attacks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7432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1" name="Text 9"/>
          <p:cNvSpPr/>
          <p:nvPr/>
        </p:nvSpPr>
        <p:spPr>
          <a:xfrm>
            <a:off x="315468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1554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ERC-1155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4612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GameItems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0" y="2286000"/>
            <a:ext cx="2194560" cy="0"/>
          </a:xfrm>
          <a:prstGeom prst="line">
            <a:avLst/>
          </a:prstGeom>
          <a:noFill/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5" name="Text 13"/>
          <p:cNvSpPr/>
          <p:nvPr/>
        </p:nvSpPr>
        <p:spPr>
          <a:xfrm>
            <a:off x="3337560" y="23774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GOLD, WOOD, IRON, CRYSTAL resources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Legendary NFTs with maxSupply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Crafting: burn inputs → mint output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AccessControl with MINTER_ROLE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AccessControl with MINTER_ROLE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914400"/>
            <a:ext cx="27432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7" name="Text 15"/>
          <p:cNvSpPr/>
          <p:nvPr/>
        </p:nvSpPr>
        <p:spPr>
          <a:xfrm>
            <a:off x="6035040" y="1005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126480" y="1554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ERC-4626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ItemVault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286000"/>
            <a:ext cx="2194560" cy="0"/>
          </a:xfrm>
          <a:prstGeom prst="line">
            <a:avLst/>
          </a:prstGeom>
          <a:noFill/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GAME → receive gvSHARE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harvest() injects yield → shares appreciate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convertToShares / convertToAssets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vault interface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vault interface</a:t>
            </a:r>
            <a:endParaRPr lang="en-US" sz="1100" dirty="0"/>
          </a:p>
        </p:txBody>
      </p:sp>
      <p:pic>
        <p:nvPicPr>
          <p:cNvPr id="1028" name="Picture 4" descr="Coin PNG Transparent Images Free Download | Vector Files | Pngtree">
            <a:extLst>
              <a:ext uri="{FF2B5EF4-FFF2-40B4-BE49-F238E27FC236}">
                <a16:creationId xmlns:a16="http://schemas.microsoft.com/office/drawing/2014/main" id="{CC43A2D9-4B82-70F8-51FF-EE4570860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654" y="890453"/>
            <a:ext cx="768531" cy="768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esenhos de controle de videogame | Canva">
            <a:extLst>
              <a:ext uri="{FF2B5EF4-FFF2-40B4-BE49-F238E27FC236}">
                <a16:creationId xmlns:a16="http://schemas.microsoft.com/office/drawing/2014/main" id="{EF54D787-239F-60A8-7963-CC54A86D9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58" y="936003"/>
            <a:ext cx="1029244" cy="677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Primitives — ResourceAMM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57200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y = 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Product Formula  ·  0.3% Swap Fee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384048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Protection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minAmountOut parameter on every swap — reverts if output is insufficient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657600"/>
            <a:ext cx="384048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1" name="Text 9"/>
          <p:cNvSpPr/>
          <p:nvPr/>
        </p:nvSpPr>
        <p:spPr>
          <a:xfrm>
            <a:off x="41148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Tokens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41148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providers receive proportional LP tokens. Burn to redeem underlying assets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377440"/>
            <a:ext cx="384048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4" name="Text 12"/>
          <p:cNvSpPr/>
          <p:nvPr/>
        </p:nvSpPr>
        <p:spPr>
          <a:xfrm>
            <a:off x="5166360" y="2468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ReentrancyGuard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28346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state-changing functions protected with OpenZeppelin nonReentrant modifier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657600"/>
            <a:ext cx="384048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7" name="Text 15"/>
          <p:cNvSpPr/>
          <p:nvPr/>
        </p:nvSpPr>
        <p:spPr>
          <a:xfrm>
            <a:off x="516636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SafeERC20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41148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ERC-20 interactions use SafeERC20.safeTransfer / safeTransferFrom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914400"/>
            <a:ext cx="384048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0" name="Text 18"/>
          <p:cNvSpPr/>
          <p:nvPr/>
        </p:nvSpPr>
        <p:spPr>
          <a:xfrm>
            <a:off x="5166360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Report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13258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swap()          69,992 avg gas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addLiquidity()  207,365 avg gas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Solidity Patterns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UUPS Proxy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GameItemsV1 → GameItemsV2 upgrade path. Storage layout preserved. _disableInitializers() in constructor. UPGRADER_ROLE required.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Text 7"/>
          <p:cNvSpPr/>
          <p:nvPr/>
        </p:nvSpPr>
        <p:spPr>
          <a:xfrm>
            <a:off x="489204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Pattern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GameFactory deploys GameItems via CREATE (non-deterministic) and CREATE2 (deterministic). predictAddress() computes address before deploy.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11480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Text 11"/>
          <p:cNvSpPr/>
          <p:nvPr/>
        </p:nvSpPr>
        <p:spPr>
          <a:xfrm>
            <a:off x="4114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 Assembly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" y="3429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YulMath implements sqrt (Newton-Raphson), min/max (branchless XOR), mulDiv in inline assembly. 10-30% gas savings vs pure Solidity.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Checks-Effects-Interactions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craft() burns inputs with _burnBatch() BEFORE minting output. Prevents reentrancy: state updated before any external calls.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Governance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2801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Text 3"/>
          <p:cNvSpPr/>
          <p:nvPr/>
        </p:nvSpPr>
        <p:spPr>
          <a:xfrm>
            <a:off x="228600" y="1097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508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≥1% tokens required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155448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Shape 6"/>
          <p:cNvSpPr/>
          <p:nvPr/>
        </p:nvSpPr>
        <p:spPr>
          <a:xfrm>
            <a:off x="1691640" y="1005840"/>
            <a:ext cx="12801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Text 7"/>
          <p:cNvSpPr/>
          <p:nvPr/>
        </p:nvSpPr>
        <p:spPr>
          <a:xfrm>
            <a:off x="1691640" y="1097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Delay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1508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7,200 blocks (~1 day)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71800" y="155448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Shape 10"/>
          <p:cNvSpPr/>
          <p:nvPr/>
        </p:nvSpPr>
        <p:spPr>
          <a:xfrm>
            <a:off x="3154680" y="1005840"/>
            <a:ext cx="12801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Text 11"/>
          <p:cNvSpPr/>
          <p:nvPr/>
        </p:nvSpPr>
        <p:spPr>
          <a:xfrm>
            <a:off x="3154680" y="1097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castVote()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1508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1-week voting window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155448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6" name="Shape 14"/>
          <p:cNvSpPr/>
          <p:nvPr/>
        </p:nvSpPr>
        <p:spPr>
          <a:xfrm>
            <a:off x="4617720" y="1005840"/>
            <a:ext cx="12801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7" name="Text 15"/>
          <p:cNvSpPr/>
          <p:nvPr/>
        </p:nvSpPr>
        <p:spPr>
          <a:xfrm>
            <a:off x="4617720" y="1097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Check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1508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must participate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155448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0" name="Shape 18"/>
          <p:cNvSpPr/>
          <p:nvPr/>
        </p:nvSpPr>
        <p:spPr>
          <a:xfrm>
            <a:off x="6080760" y="1005840"/>
            <a:ext cx="12801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1" name="Text 19"/>
          <p:cNvSpPr/>
          <p:nvPr/>
        </p:nvSpPr>
        <p:spPr>
          <a:xfrm>
            <a:off x="6080760" y="1097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1508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 Timelock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60920" y="155448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4" name="Shape 22"/>
          <p:cNvSpPr/>
          <p:nvPr/>
        </p:nvSpPr>
        <p:spPr>
          <a:xfrm>
            <a:off x="7543800" y="1005840"/>
            <a:ext cx="12801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5" name="Text 23"/>
          <p:cNvSpPr/>
          <p:nvPr/>
        </p:nvSpPr>
        <p:spPr>
          <a:xfrm>
            <a:off x="7543800" y="1097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43800" y="1508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2-day delay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 Parameters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2788920"/>
            <a:ext cx="41148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9" name="Text 27"/>
          <p:cNvSpPr/>
          <p:nvPr/>
        </p:nvSpPr>
        <p:spPr>
          <a:xfrm>
            <a:off x="411480" y="28163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Delay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40280" y="28163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7,200 blocks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3172968"/>
            <a:ext cx="4114800" cy="347472"/>
          </a:xfrm>
          <a:prstGeom prst="rect">
            <a:avLst/>
          </a:prstGeom>
          <a:solidFill>
            <a:srgbClr val="0D1428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2" name="Text 30"/>
          <p:cNvSpPr/>
          <p:nvPr/>
        </p:nvSpPr>
        <p:spPr>
          <a:xfrm>
            <a:off x="411480" y="3200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Period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40280" y="32004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50,400 blocks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557016"/>
            <a:ext cx="41148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5" name="Text 33"/>
          <p:cNvSpPr/>
          <p:nvPr/>
        </p:nvSpPr>
        <p:spPr>
          <a:xfrm>
            <a:off x="411480" y="35844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240280" y="35844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of supply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" y="3941064"/>
            <a:ext cx="4114800" cy="347472"/>
          </a:xfrm>
          <a:prstGeom prst="rect">
            <a:avLst/>
          </a:prstGeom>
          <a:solidFill>
            <a:srgbClr val="0D1428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8" name="Text 36"/>
          <p:cNvSpPr/>
          <p:nvPr/>
        </p:nvSpPr>
        <p:spPr>
          <a:xfrm>
            <a:off x="411480" y="39684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Threshold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240280" y="396849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of supply (10,000 GAME)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4325112"/>
            <a:ext cx="41148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1" name="Text 39"/>
          <p:cNvSpPr/>
          <p:nvPr/>
        </p:nvSpPr>
        <p:spPr>
          <a:xfrm>
            <a:off x="411480" y="435254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Timelock Delay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240280" y="435254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172,800 sec (2 days)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54880" y="2377440"/>
            <a:ext cx="411480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4" name="Text 42"/>
          <p:cNvSpPr/>
          <p:nvPr/>
        </p:nvSpPr>
        <p:spPr>
          <a:xfrm>
            <a:off x="4892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Loan Protection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892040" y="28803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ERC20Votes uses block snapshots. When a proposal is created, voting power is locked at that block. Flash-loaned tokens have zero historical balance and cannot vote. Attack impossible.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54880" y="4160520"/>
            <a:ext cx="4114800" cy="502920"/>
          </a:xfrm>
          <a:prstGeom prst="rect">
            <a:avLst/>
          </a:prstGeom>
          <a:solidFill>
            <a:srgbClr val="0D1428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7" name="Text 45"/>
          <p:cNvSpPr/>
          <p:nvPr/>
        </p:nvSpPr>
        <p:spPr>
          <a:xfrm>
            <a:off x="4892040" y="4206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Beanstalk ($182M) used same-block voting — our system prevents this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— 92 Tests, 0 Failing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103120" y="822960"/>
          <a:ext cx="67665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931920"/>
            <a:ext cx="20116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Text 5"/>
          <p:cNvSpPr/>
          <p:nvPr/>
        </p:nvSpPr>
        <p:spPr>
          <a:xfrm>
            <a:off x="274320" y="3977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74320" y="4370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23160" y="3931920"/>
            <a:ext cx="20116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1" name="Text 8"/>
          <p:cNvSpPr/>
          <p:nvPr/>
        </p:nvSpPr>
        <p:spPr>
          <a:xfrm>
            <a:off x="2423160" y="3977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423160" y="4370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 Tests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3931920"/>
            <a:ext cx="20116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4" name="Text 11"/>
          <p:cNvSpPr/>
          <p:nvPr/>
        </p:nvSpPr>
        <p:spPr>
          <a:xfrm>
            <a:off x="4572000" y="3977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128k calls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0" y="4370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20840" y="3931920"/>
            <a:ext cx="20116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7" name="Text 14"/>
          <p:cNvSpPr/>
          <p:nvPr/>
        </p:nvSpPr>
        <p:spPr>
          <a:xfrm>
            <a:off x="6720840" y="3977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720840" y="4370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Tests</a:t>
            </a:r>
            <a:endParaRPr lang="en-US" sz="1100" dirty="0"/>
          </a:p>
        </p:txBody>
      </p:sp>
      <p:sp>
        <p:nvSpPr>
          <p:cNvPr id="20" name="AutoShape 4">
            <a:extLst>
              <a:ext uri="{FF2B5EF4-FFF2-40B4-BE49-F238E27FC236}">
                <a16:creationId xmlns:a16="http://schemas.microsoft.com/office/drawing/2014/main" id="{302F68FC-07AE-E4A9-74F8-AA11630941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US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B0BDCFE9-BD3D-3D18-E716-4B3B014EC0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7200" y="255923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Arbitrum Sepolia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5720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GameToken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0x7E7C0F7A93...dD1d  ✅ Verified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20624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572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GameItems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0x477BE3c4...EFBC  ✅ Verified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20624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572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4" name="Text 12"/>
          <p:cNvSpPr/>
          <p:nvPr/>
        </p:nvSpPr>
        <p:spPr>
          <a:xfrm>
            <a:off x="457200" y="29992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ResourceAMM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0x41ec8998...A2C0  ✅ Verified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420624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7" name="Shape 15"/>
          <p:cNvSpPr/>
          <p:nvPr/>
        </p:nvSpPr>
        <p:spPr>
          <a:xfrm>
            <a:off x="274320" y="3931920"/>
            <a:ext cx="4572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ItemVault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0x90461...c82  ✅ Verified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420624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1" name="Shape 19"/>
          <p:cNvSpPr/>
          <p:nvPr/>
        </p:nvSpPr>
        <p:spPr>
          <a:xfrm>
            <a:off x="4754880" y="914400"/>
            <a:ext cx="45720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2" name="Text 20"/>
          <p:cNvSpPr/>
          <p:nvPr/>
        </p:nvSpPr>
        <p:spPr>
          <a:xfrm>
            <a:off x="4937760" y="987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LootBox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0xd665aC...f5E  ✅ Verified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420624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5" name="Shape 23"/>
          <p:cNvSpPr/>
          <p:nvPr/>
        </p:nvSpPr>
        <p:spPr>
          <a:xfrm>
            <a:off x="4754880" y="1920240"/>
            <a:ext cx="4572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6" name="Text 24"/>
          <p:cNvSpPr/>
          <p:nvPr/>
        </p:nvSpPr>
        <p:spPr>
          <a:xfrm>
            <a:off x="4937760" y="1993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MockAggregator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0x780F34...e20E  ✅ Verified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420624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4572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0" name="Text 28"/>
          <p:cNvSpPr/>
          <p:nvPr/>
        </p:nvSpPr>
        <p:spPr>
          <a:xfrm>
            <a:off x="4937760" y="29992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MyTimelock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337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0x849580...Ca0  ✅ Verified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931920"/>
            <a:ext cx="420624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3" name="Shape 31"/>
          <p:cNvSpPr/>
          <p:nvPr/>
        </p:nvSpPr>
        <p:spPr>
          <a:xfrm>
            <a:off x="4754880" y="3931920"/>
            <a:ext cx="4572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4" name="Text 32"/>
          <p:cNvSpPr/>
          <p:nvPr/>
        </p:nvSpPr>
        <p:spPr>
          <a:xfrm>
            <a:off x="4937760" y="4005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MyGovernor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4343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0x495228...e68  ✅ Verified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solidFill>
            <a:srgbClr val="0A1428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7" name="Text 35"/>
          <p:cNvSpPr/>
          <p:nvPr/>
        </p:nvSpPr>
        <p:spPr>
          <a:xfrm>
            <a:off x="365760" y="473659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deploy cost: 0.000251 ETH (~$0.60)  ·  vs Ethereum L1: estimated $50-200+  ·  Arbitrum saves ~99.7% on gas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— Internal Review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5720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Text 4"/>
          <p:cNvSpPr/>
          <p:nvPr/>
        </p:nvSpPr>
        <p:spPr>
          <a:xfrm>
            <a:off x="457200" y="850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8503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Timelock Admin Not Renounced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886968"/>
            <a:ext cx="1005840" cy="219456"/>
          </a:xfrm>
          <a:prstGeom prst="rect">
            <a:avLst/>
          </a:prstGeom>
          <a:solidFill>
            <a:srgbClr val="1A254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Text 7"/>
          <p:cNvSpPr/>
          <p:nvPr/>
        </p:nvSpPr>
        <p:spPr>
          <a:xfrm>
            <a:off x="4572000" y="88696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1887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renounceRole() after deployment 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00200"/>
            <a:ext cx="859536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Shape 10"/>
          <p:cNvSpPr/>
          <p:nvPr/>
        </p:nvSpPr>
        <p:spPr>
          <a:xfrm>
            <a:off x="274320" y="1600200"/>
            <a:ext cx="4572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Text 11"/>
          <p:cNvSpPr/>
          <p:nvPr/>
        </p:nvSpPr>
        <p:spPr>
          <a:xfrm>
            <a:off x="457200" y="162763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16276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block.timestamp Randomness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1664208"/>
            <a:ext cx="1005840" cy="219456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6" name="Text 14"/>
          <p:cNvSpPr/>
          <p:nvPr/>
        </p:nvSpPr>
        <p:spPr>
          <a:xfrm>
            <a:off x="4572000" y="166420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19659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Chainlink VRF in production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859536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9" name="Shape 17"/>
          <p:cNvSpPr/>
          <p:nvPr/>
        </p:nvSpPr>
        <p:spPr>
          <a:xfrm>
            <a:off x="274320" y="2377440"/>
            <a:ext cx="4572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0" name="Text 18"/>
          <p:cNvSpPr/>
          <p:nvPr/>
        </p:nvSpPr>
        <p:spPr>
          <a:xfrm>
            <a:off x="457200" y="240487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24048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 Governance Risk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2441448"/>
            <a:ext cx="1005840" cy="219456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3" name="Text 21"/>
          <p:cNvSpPr/>
          <p:nvPr/>
        </p:nvSpPr>
        <p:spPr>
          <a:xfrm>
            <a:off x="4572000" y="244144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2743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quadratic voting or veto council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154680"/>
            <a:ext cx="859536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6" name="Shape 24"/>
          <p:cNvSpPr/>
          <p:nvPr/>
        </p:nvSpPr>
        <p:spPr>
          <a:xfrm>
            <a:off x="274320" y="3154680"/>
            <a:ext cx="4572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7" name="Text 25"/>
          <p:cNvSpPr/>
          <p:nvPr/>
        </p:nvSpPr>
        <p:spPr>
          <a:xfrm>
            <a:off x="457200" y="31821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L-01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31821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Admin Role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0" y="3218688"/>
            <a:ext cx="1005840" cy="219456"/>
          </a:xfrm>
          <a:prstGeom prst="rect">
            <a:avLst/>
          </a:prstGeom>
          <a:solidFill>
            <a:srgbClr val="1A254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0" name="Text 28"/>
          <p:cNvSpPr/>
          <p:nvPr/>
        </p:nvSpPr>
        <p:spPr>
          <a:xfrm>
            <a:off x="4572000" y="321868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34440" y="35204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— grants role to factory owner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859536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3" name="Shape 31"/>
          <p:cNvSpPr/>
          <p:nvPr/>
        </p:nvSpPr>
        <p:spPr>
          <a:xfrm>
            <a:off x="274320" y="3931920"/>
            <a:ext cx="45720" cy="7132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4" name="Text 32"/>
          <p:cNvSpPr/>
          <p:nvPr/>
        </p:nvSpPr>
        <p:spPr>
          <a:xfrm>
            <a:off x="457200" y="395935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I-01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34440" y="39593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Size &gt; 24KB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0" y="3995928"/>
            <a:ext cx="1005840" cy="219456"/>
          </a:xfrm>
          <a:prstGeom prst="rect">
            <a:avLst/>
          </a:prstGeom>
          <a:solidFill>
            <a:srgbClr val="1A2540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7" name="Text 35"/>
          <p:cNvSpPr/>
          <p:nvPr/>
        </p:nvSpPr>
        <p:spPr>
          <a:xfrm>
            <a:off x="4572000" y="399592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34440" y="42976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enabled, acceptable for testnet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Subgraph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index.html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connect with network detection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token balance + voting power display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ERC-1155 item grid with live balances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legendary items (burn resources)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loot boxes with spin animation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votes + cast For/Against/Abstain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ERC-4626 vault deposit + share check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dark theme with neon accents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Text 6"/>
          <p:cNvSpPr/>
          <p:nvPr/>
        </p:nvSpPr>
        <p:spPr>
          <a:xfrm>
            <a:off x="493776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— Subgraph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Entities: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18745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address, craftCount, swapCount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313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ItemBalance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23134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player, tokenId, amount, updatedAt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7523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CraftEvent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75234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player, outputId, amount, timestamp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1912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31912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trader, tokenIn, amountIn, amountOut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6301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LiquidityEvent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36301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provider, amount0, amount1, lpMinted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4114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indexed: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434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TransferSingle · CraftCompleted · Swap · LiquidityAdded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GameFi Economy Protocol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743200" y="2331720"/>
            <a:ext cx="3657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2560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65176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On-Chain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560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9224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53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github.com/Hakujiisan/blockchain2_finalexam  ·  Arbitrum Sepolia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860</Words>
  <Application>Microsoft Macintosh PowerPoint</Application>
  <PresentationFormat>Экран (16:9)</PresentationFormat>
  <Paragraphs>221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GameFi Economy Protocol</dc:title>
  <dc:subject>PptxGenJS Presentation</dc:subject>
  <dc:creator>PptxGenJS</dc:creator>
  <cp:lastModifiedBy>Alan Kissamenov</cp:lastModifiedBy>
  <cp:revision>2</cp:revision>
  <dcterms:created xsi:type="dcterms:W3CDTF">2026-05-18T02:14:17Z</dcterms:created>
  <dcterms:modified xsi:type="dcterms:W3CDTF">2026-05-18T02:56:02Z</dcterms:modified>
</cp:coreProperties>
</file>